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4"/>
    <p:sldMasterId id="2147483660" r:id="rId5"/>
  </p:sldMasterIdLst>
  <p:notesMasterIdLst>
    <p:notesMasterId r:id="rId22"/>
  </p:notesMasterIdLst>
  <p:sldIdLst>
    <p:sldId id="256" r:id="rId6"/>
    <p:sldId id="2147483345" r:id="rId7"/>
    <p:sldId id="2147483308" r:id="rId8"/>
    <p:sldId id="2147483337" r:id="rId9"/>
    <p:sldId id="2147483346" r:id="rId10"/>
    <p:sldId id="2147483338" r:id="rId11"/>
    <p:sldId id="2147483341" r:id="rId12"/>
    <p:sldId id="2147483342" r:id="rId13"/>
    <p:sldId id="285" r:id="rId14"/>
    <p:sldId id="2147483347" r:id="rId15"/>
    <p:sldId id="2147481661" r:id="rId16"/>
    <p:sldId id="2147483343" r:id="rId17"/>
    <p:sldId id="2147483340" r:id="rId18"/>
    <p:sldId id="2147483339" r:id="rId19"/>
    <p:sldId id="2147483327" r:id="rId20"/>
    <p:sldId id="2147483344" r:id="rId21"/>
  </p:sldIdLst>
  <p:sldSz cx="12192000" cy="6858000"/>
  <p:notesSz cx="6858000" cy="9144000"/>
  <p:embeddedFontLst>
    <p:embeddedFont>
      <p:font typeface="Barlow" panose="00000500000000000000" pitchFamily="2" charset="0"/>
      <p:regular r:id="rId23"/>
      <p:bold r:id="rId24"/>
      <p:italic r:id="rId25"/>
      <p:boldItalic r:id="rId26"/>
    </p:embeddedFont>
    <p:embeddedFont>
      <p:font typeface="Barlow Medium" panose="00000600000000000000" pitchFamily="2" charset="0"/>
      <p:regular r:id="rId27"/>
      <p:italic r:id="rId28"/>
    </p:embeddedFont>
    <p:embeddedFont>
      <p:font typeface="Cordia New" panose="020B0304020202020204" pitchFamily="34" charset="-34"/>
      <p:regular r:id="rId29"/>
      <p:bold r:id="rId30"/>
      <p:italic r:id="rId31"/>
      <p:boldItalic r:id="rId32"/>
    </p:embeddedFont>
    <p:embeddedFont>
      <p:font typeface="Nunito" pitchFamily="2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  <p:embeddedFont>
      <p:font typeface="Roboto Condensed" panose="020000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402">
          <p15:clr>
            <a:srgbClr val="747775"/>
          </p15:clr>
        </p15:guide>
        <p15:guide id="2" orient="horz" pos="1417">
          <p15:clr>
            <a:srgbClr val="747775"/>
          </p15:clr>
        </p15:guide>
        <p15:guide id="3" orient="horz" pos="567">
          <p15:clr>
            <a:srgbClr val="747775"/>
          </p15:clr>
        </p15:guide>
        <p15:guide id="4" pos="113">
          <p15:clr>
            <a:srgbClr val="747775"/>
          </p15:clr>
        </p15:guide>
        <p15:guide id="5" orient="horz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E33B85-437F-BB56-804A-8099866717CB}" name="Nattakarn Thammakul" initials="NT" userId="S::nattakarn.tha@thailife.com::aaecaf5f-aee7-417c-9d40-78f23707a155" providerId="AD"/>
  <p188:author id="{1A0D388E-0FFD-C75F-9243-9D4256BDBC03}" name="Warorot Somniyam" initials="WS" userId="S::warorot.som@thailife.com::ddc0f097-db8b-46d4-8d7a-a412bf3429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5FB7A4-7C9C-D946-C25E-5964636A7C4E}" v="599" dt="2026-07-21T04:34:51.883"/>
    <p1510:client id="{8CD58B0F-36E9-F955-D424-17AE81CF91D2}" v="689" dt="2026-07-21T04:49:53.398"/>
    <p1510:client id="{8DA154D5-3D45-0D10-E56D-189E1B649BC7}" v="9" dt="2026-07-20T06:50:13.338"/>
    <p1510:client id="{B7C90431-E85F-448E-96E7-2D035B7E0D6B}" v="2" dt="2026-07-21T06:36:37.730"/>
  </p1510:revLst>
</p1510:revInfo>
</file>

<file path=ppt/tableStyles.xml><?xml version="1.0" encoding="utf-8"?>
<a:tblStyleLst xmlns:a="http://schemas.openxmlformats.org/drawingml/2006/main" def="{73CB6E75-B6F4-4054-B862-1CFDE5EAE448}">
  <a:tblStyle styleId="{73CB6E75-B6F4-4054-B862-1CFDE5EAE4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722C6F1-D74B-4086-8A4A-84A90820430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pos="3402"/>
        <p:guide orient="horz" pos="1417"/>
        <p:guide orient="horz" pos="567"/>
        <p:guide pos="113"/>
        <p:guide orient="horz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16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47" Type="http://schemas.openxmlformats.org/officeDocument/2006/relationships/theme" Target="theme/theme1.xml"/><Relationship Id="rId50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font" Target="fonts/font7.fntdata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font" Target="fonts/font19.fntdata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00e1cabe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800e1cab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FBDE81FB-30AC-3F80-DF33-9AC9C3102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d8511741_0_62:notes">
            <a:extLst>
              <a:ext uri="{FF2B5EF4-FFF2-40B4-BE49-F238E27FC236}">
                <a16:creationId xmlns:a16="http://schemas.microsoft.com/office/drawing/2014/main" id="{66AC10F0-E5F8-5284-26E2-CB7F7D4BB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0d8511741_0_62:notes">
            <a:extLst>
              <a:ext uri="{FF2B5EF4-FFF2-40B4-BE49-F238E27FC236}">
                <a16:creationId xmlns:a16="http://schemas.microsoft.com/office/drawing/2014/main" id="{8A6324D9-D1D8-DF2B-BB81-23E04FEC34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870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4B128D3-7827-71E6-A7DD-497B5897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d8511741_0_62:notes">
            <a:extLst>
              <a:ext uri="{FF2B5EF4-FFF2-40B4-BE49-F238E27FC236}">
                <a16:creationId xmlns:a16="http://schemas.microsoft.com/office/drawing/2014/main" id="{705F5389-61B3-BBE2-6AD1-1211E88A7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0d8511741_0_62:notes">
            <a:extLst>
              <a:ext uri="{FF2B5EF4-FFF2-40B4-BE49-F238E27FC236}">
                <a16:creationId xmlns:a16="http://schemas.microsoft.com/office/drawing/2014/main" id="{584A3E83-F557-2818-15C4-0989907F9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3254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36CADBB1-6042-CDBC-29AA-2E23A8A4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d8511741_0_62:notes">
            <a:extLst>
              <a:ext uri="{FF2B5EF4-FFF2-40B4-BE49-F238E27FC236}">
                <a16:creationId xmlns:a16="http://schemas.microsoft.com/office/drawing/2014/main" id="{3AEF8FF7-F3DB-784A-C9DF-FE99A2F7F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0d8511741_0_62:notes">
            <a:extLst>
              <a:ext uri="{FF2B5EF4-FFF2-40B4-BE49-F238E27FC236}">
                <a16:creationId xmlns:a16="http://schemas.microsoft.com/office/drawing/2014/main" id="{C8CB560F-E056-8982-C0B3-20DAF04D5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470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ea96e40922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g2ea96e40922_0_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2ea96e40922_0_1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>
          <a:extLst>
            <a:ext uri="{FF2B5EF4-FFF2-40B4-BE49-F238E27FC236}">
              <a16:creationId xmlns:a16="http://schemas.microsoft.com/office/drawing/2014/main" id="{3949882D-34C9-2026-70AE-D40BF2B5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2ea96e40922_0_186:notes">
            <a:extLst>
              <a:ext uri="{FF2B5EF4-FFF2-40B4-BE49-F238E27FC236}">
                <a16:creationId xmlns:a16="http://schemas.microsoft.com/office/drawing/2014/main" id="{32AF2BDF-9E91-0031-75E6-BA52DE9F7B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9" name="Google Shape;509;g2ea96e40922_0_186:notes">
            <a:extLst>
              <a:ext uri="{FF2B5EF4-FFF2-40B4-BE49-F238E27FC236}">
                <a16:creationId xmlns:a16="http://schemas.microsoft.com/office/drawing/2014/main" id="{E4D309EB-AAD3-A7F7-3166-B6B6E2D16C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g2ea96e40922_0_186:notes">
            <a:extLst>
              <a:ext uri="{FF2B5EF4-FFF2-40B4-BE49-F238E27FC236}">
                <a16:creationId xmlns:a16="http://schemas.microsoft.com/office/drawing/2014/main" id="{FF2CA379-4E70-3470-41EA-B267A2650E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0661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07E3FF4F-3646-5932-8D1C-14F4AFCEE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d8511741_0_62:notes">
            <a:extLst>
              <a:ext uri="{FF2B5EF4-FFF2-40B4-BE49-F238E27FC236}">
                <a16:creationId xmlns:a16="http://schemas.microsoft.com/office/drawing/2014/main" id="{9C51CEFF-9693-6F32-B740-6B3B515CE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0d8511741_0_62:notes">
            <a:extLst>
              <a:ext uri="{FF2B5EF4-FFF2-40B4-BE49-F238E27FC236}">
                <a16:creationId xmlns:a16="http://schemas.microsoft.com/office/drawing/2014/main" id="{8269588E-D4E4-654C-A9E1-A43522ADD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220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851162D5-B778-9A4D-32BE-3FDDE77F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d8511741_0_62:notes">
            <a:extLst>
              <a:ext uri="{FF2B5EF4-FFF2-40B4-BE49-F238E27FC236}">
                <a16:creationId xmlns:a16="http://schemas.microsoft.com/office/drawing/2014/main" id="{B8376B46-0116-249A-AF88-C0FFB2560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0d8511741_0_62:notes">
            <a:extLst>
              <a:ext uri="{FF2B5EF4-FFF2-40B4-BE49-F238E27FC236}">
                <a16:creationId xmlns:a16="http://schemas.microsoft.com/office/drawing/2014/main" id="{1AF486A1-D84A-A7BD-38F5-E04A8D2FC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8201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1269EC2-7544-60EA-B0E3-CCF0DED5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0d8511741_0_62:notes">
            <a:extLst>
              <a:ext uri="{FF2B5EF4-FFF2-40B4-BE49-F238E27FC236}">
                <a16:creationId xmlns:a16="http://schemas.microsoft.com/office/drawing/2014/main" id="{9773B57D-4CE3-2516-3737-FF2583C20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g370d8511741_0_62:notes">
            <a:extLst>
              <a:ext uri="{FF2B5EF4-FFF2-40B4-BE49-F238E27FC236}">
                <a16:creationId xmlns:a16="http://schemas.microsoft.com/office/drawing/2014/main" id="{72FF74B0-0F2C-9D30-8761-3F056B23B6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8778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7D353DC6-05AC-8D26-77C2-C151A3BF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00e1cabec_0_0:notes">
            <a:extLst>
              <a:ext uri="{FF2B5EF4-FFF2-40B4-BE49-F238E27FC236}">
                <a16:creationId xmlns:a16="http://schemas.microsoft.com/office/drawing/2014/main" id="{DEA1A484-9525-01D7-E7B6-5BD897599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g3800e1cabec_0_0:notes">
            <a:extLst>
              <a:ext uri="{FF2B5EF4-FFF2-40B4-BE49-F238E27FC236}">
                <a16:creationId xmlns:a16="http://schemas.microsoft.com/office/drawing/2014/main" id="{71559F75-0BFC-DEA2-954D-8608D57BA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650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TSC New Template">
  <p:cSld name="TITLE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>
            <a:spLocks noGrp="1"/>
          </p:cNvSpPr>
          <p:nvPr>
            <p:ph type="ctrTitle"/>
          </p:nvPr>
        </p:nvSpPr>
        <p:spPr>
          <a:xfrm>
            <a:off x="1524016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subTitle" idx="1"/>
          </p:nvPr>
        </p:nvSpPr>
        <p:spPr>
          <a:xfrm>
            <a:off x="1524016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6" name="Google Shape;156;p26"/>
          <p:cNvSpPr txBox="1">
            <a:spLocks noGrp="1"/>
          </p:cNvSpPr>
          <p:nvPr>
            <p:ph type="dt" idx="10"/>
          </p:nvPr>
        </p:nvSpPr>
        <p:spPr>
          <a:xfrm>
            <a:off x="83820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ftr" idx="11"/>
          </p:nvPr>
        </p:nvSpPr>
        <p:spPr>
          <a:xfrm>
            <a:off x="4038642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6"/>
          <p:cNvSpPr txBox="1">
            <a:spLocks noGrp="1"/>
          </p:cNvSpPr>
          <p:nvPr>
            <p:ph type="sldNum" idx="12"/>
          </p:nvPr>
        </p:nvSpPr>
        <p:spPr>
          <a:xfrm>
            <a:off x="861068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  <p:pic>
        <p:nvPicPr>
          <p:cNvPr id="159" name="Google Shape;159;p26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959" cy="685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959" cy="6856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959" cy="6856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>
            <a:spLocks noGrp="1"/>
          </p:cNvSpPr>
          <p:nvPr>
            <p:ph type="title"/>
          </p:nvPr>
        </p:nvSpPr>
        <p:spPr>
          <a:xfrm>
            <a:off x="415604" y="328489"/>
            <a:ext cx="97965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7"/>
          <p:cNvSpPr txBox="1">
            <a:spLocks noGrp="1"/>
          </p:cNvSpPr>
          <p:nvPr>
            <p:ph type="body" idx="1"/>
          </p:nvPr>
        </p:nvSpPr>
        <p:spPr>
          <a:xfrm>
            <a:off x="415604" y="1244402"/>
            <a:ext cx="11531700" cy="51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800"/>
              <a:buChar char="•"/>
              <a:defRPr sz="1500"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7"/>
          <p:cNvSpPr txBox="1">
            <a:spLocks noGrp="1"/>
          </p:cNvSpPr>
          <p:nvPr>
            <p:ph type="sldNum" idx="12"/>
          </p:nvPr>
        </p:nvSpPr>
        <p:spPr>
          <a:xfrm>
            <a:off x="11315111" y="6485640"/>
            <a:ext cx="7131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  <p:sp>
        <p:nvSpPr>
          <p:cNvPr id="166" name="Google Shape;166;p27"/>
          <p:cNvSpPr txBox="1"/>
          <p:nvPr/>
        </p:nvSpPr>
        <p:spPr>
          <a:xfrm>
            <a:off x="0" y="6615750"/>
            <a:ext cx="595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TH"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Confidential | Digital Transformation Group | Thai Life Insurance PCL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1"/>
          </p:nvPr>
        </p:nvSpPr>
        <p:spPr>
          <a:xfrm>
            <a:off x="1103167" y="2438003"/>
            <a:ext cx="2584500" cy="21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97AC2"/>
              </a:buClr>
              <a:buSzPts val="16700"/>
              <a:buNone/>
              <a:defRPr sz="13900" b="1">
                <a:solidFill>
                  <a:srgbClr val="097AC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pic>
        <p:nvPicPr>
          <p:cNvPr id="170" name="Google Shape;170;p28"/>
          <p:cNvPicPr preferRelativeResize="0"/>
          <p:nvPr/>
        </p:nvPicPr>
        <p:blipFill rotWithShape="1">
          <a:blip r:embed="rId2">
            <a:alphaModFix/>
          </a:blip>
          <a:srcRect l="83882" t="1738" r="707" b="81738"/>
          <a:stretch/>
        </p:blipFill>
        <p:spPr>
          <a:xfrm>
            <a:off x="10227469" y="119271"/>
            <a:ext cx="1878519" cy="113306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>
            <a:spLocks noGrp="1"/>
          </p:cNvSpPr>
          <p:nvPr>
            <p:ph type="body" idx="2"/>
          </p:nvPr>
        </p:nvSpPr>
        <p:spPr>
          <a:xfrm>
            <a:off x="3996616" y="2438002"/>
            <a:ext cx="6737700" cy="21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097AC2"/>
              </a:buClr>
              <a:buSzPts val="8800"/>
              <a:buNone/>
              <a:defRPr sz="8800">
                <a:solidFill>
                  <a:srgbClr val="097AC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28"/>
          <p:cNvSpPr txBox="1"/>
          <p:nvPr/>
        </p:nvSpPr>
        <p:spPr>
          <a:xfrm>
            <a:off x="0" y="6615750"/>
            <a:ext cx="595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TH"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Confidential | Digital Transformation Group | Thai Life Insurance PCL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129212" y="136525"/>
            <a:ext cx="10098300" cy="10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dt" idx="10"/>
          </p:nvPr>
        </p:nvSpPr>
        <p:spPr>
          <a:xfrm>
            <a:off x="83820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ftr" idx="11"/>
          </p:nvPr>
        </p:nvSpPr>
        <p:spPr>
          <a:xfrm>
            <a:off x="4038642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sldNum" idx="12"/>
          </p:nvPr>
        </p:nvSpPr>
        <p:spPr>
          <a:xfrm>
            <a:off x="861068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  <p:sp>
        <p:nvSpPr>
          <p:cNvPr id="178" name="Google Shape;178;p29"/>
          <p:cNvSpPr txBox="1">
            <a:spLocks noGrp="1"/>
          </p:cNvSpPr>
          <p:nvPr>
            <p:ph type="body" idx="1"/>
          </p:nvPr>
        </p:nvSpPr>
        <p:spPr>
          <a:xfrm>
            <a:off x="838208" y="1414914"/>
            <a:ext cx="10515600" cy="44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29"/>
          <p:cNvSpPr txBox="1"/>
          <p:nvPr/>
        </p:nvSpPr>
        <p:spPr>
          <a:xfrm>
            <a:off x="0" y="6615750"/>
            <a:ext cx="595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TH"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Confidential | Digital Transformation Group | Thai Life Insurance PCL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 1">
  <p:cSld name="2_Title Slide">
    <p:bg>
      <p:bgPr>
        <a:solidFill>
          <a:srgbClr val="005390">
            <a:alpha val="72550"/>
          </a:srgbClr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/>
        </p:nvSpPr>
        <p:spPr>
          <a:xfrm>
            <a:off x="0" y="6615750"/>
            <a:ext cx="595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TH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Confidential | Digital Transformation Group | Thai Life PCL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Background">
  <p:cSld name="Image Background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/>
          <p:nvPr/>
        </p:nvSpPr>
        <p:spPr>
          <a:xfrm>
            <a:off x="3175" y="3175"/>
            <a:ext cx="8856853" cy="6851650"/>
          </a:xfrm>
          <a:custGeom>
            <a:avLst/>
            <a:gdLst/>
            <a:ahLst/>
            <a:cxnLst/>
            <a:rect l="l" t="t" r="r" b="b"/>
            <a:pathLst>
              <a:path w="8856853" h="6851650" extrusionOk="0">
                <a:moveTo>
                  <a:pt x="0" y="6851650"/>
                </a:moveTo>
                <a:lnTo>
                  <a:pt x="0" y="6433884"/>
                </a:lnTo>
                <a:cubicBezTo>
                  <a:pt x="1681036" y="6368796"/>
                  <a:pt x="3257550" y="5672836"/>
                  <a:pt x="4439349" y="4473956"/>
                </a:cubicBezTo>
                <a:cubicBezTo>
                  <a:pt x="5622417" y="3273870"/>
                  <a:pt x="6295644" y="1685100"/>
                  <a:pt x="6335332" y="0"/>
                </a:cubicBezTo>
                <a:lnTo>
                  <a:pt x="8856853" y="0"/>
                </a:lnTo>
                <a:cubicBezTo>
                  <a:pt x="8845614" y="674103"/>
                  <a:pt x="8760016" y="1344911"/>
                  <a:pt x="8601646" y="2000250"/>
                </a:cubicBezTo>
                <a:cubicBezTo>
                  <a:pt x="8447278" y="2636692"/>
                  <a:pt x="8224456" y="3254546"/>
                  <a:pt x="7937056" y="3843020"/>
                </a:cubicBezTo>
                <a:cubicBezTo>
                  <a:pt x="7653845" y="4422306"/>
                  <a:pt x="7310120" y="4969980"/>
                  <a:pt x="6911594" y="5476875"/>
                </a:cubicBezTo>
                <a:cubicBezTo>
                  <a:pt x="6515100" y="5980576"/>
                  <a:pt x="6066975" y="6441377"/>
                  <a:pt x="5574475" y="6851650"/>
                </a:cubicBez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121875" tIns="60900" rIns="121875" bIns="60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1"/>
          <p:cNvSpPr txBox="1">
            <a:spLocks noGrp="1"/>
          </p:cNvSpPr>
          <p:nvPr>
            <p:ph type="sldNum" idx="12"/>
          </p:nvPr>
        </p:nvSpPr>
        <p:spPr>
          <a:xfrm>
            <a:off x="11307562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0" y="6615750"/>
            <a:ext cx="595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TH" sz="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Confidential | Digital Transformation Group | Thai Life Insurance PCL</a:t>
            </a:r>
            <a:endParaRPr sz="800" b="0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>
              <a:spcBef>
                <a:spcPts val="11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9250"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4pPr>
            <a:lvl5pPr marL="2286000" lvl="4" indent="-349250"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5pPr>
            <a:lvl6pPr marL="2743200" lvl="5" indent="-349250"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6pPr>
            <a:lvl7pPr marL="3200400" lvl="6" indent="-349250"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7pPr>
            <a:lvl8pPr marL="3657600" lvl="7" indent="-349250"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8pPr>
            <a:lvl9pPr marL="4114800" lvl="8" indent="-349250"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3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34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196" name="Google Shape;196;p3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784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784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" name="Google Shape;198;p34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34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_AND_BODY_4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35"/>
          <p:cNvGrpSpPr/>
          <p:nvPr/>
        </p:nvGrpSpPr>
        <p:grpSpPr>
          <a:xfrm>
            <a:off x="834621" y="399168"/>
            <a:ext cx="1332416" cy="1332416"/>
            <a:chOff x="348199" y="179450"/>
            <a:chExt cx="1116300" cy="1116300"/>
          </a:xfrm>
        </p:grpSpPr>
        <p:sp>
          <p:nvSpPr>
            <p:cNvPr id="203" name="Google Shape;203;p3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784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3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784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5" name="Google Shape;205;p35"/>
          <p:cNvSpPr txBox="1">
            <a:spLocks noGrp="1"/>
          </p:cNvSpPr>
          <p:nvPr>
            <p:ph type="title"/>
          </p:nvPr>
        </p:nvSpPr>
        <p:spPr>
          <a:xfrm>
            <a:off x="1738400" y="798100"/>
            <a:ext cx="9374100" cy="13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35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marL="2286000" lvl="4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marL="2743200" lvl="5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marL="3200400" lvl="6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marL="3657600" lvl="7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marL="4114800" lvl="8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207" name="Google Shape;207;p35"/>
          <p:cNvSpPr txBox="1">
            <a:spLocks noGrp="1"/>
          </p:cNvSpPr>
          <p:nvPr>
            <p:ph type="sldNum" idx="12"/>
          </p:nvPr>
        </p:nvSpPr>
        <p:spPr>
          <a:xfrm>
            <a:off x="11268061" y="6315968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3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1" name="Google Shape;211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marL="914400" lvl="1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2pPr>
            <a:lvl3pPr marL="1371600" lvl="2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marL="182880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4pPr>
            <a:lvl5pPr marL="228600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5pPr>
            <a:lvl6pPr marL="274320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marL="320040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marL="365760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marL="411480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218" name="Google Shape;21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219" name="Google Shape;21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_4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3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23" name="Google Shape;223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">
  <p:cSld name="TITLE_5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228" name="Google Shape;228;p3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229" name="Google Shape;229;p3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6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01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5">
  <p:cSld name="OBJECT_17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0"/>
          <p:cNvSpPr txBox="1">
            <a:spLocks noGrp="1"/>
          </p:cNvSpPr>
          <p:nvPr>
            <p:ph type="title"/>
          </p:nvPr>
        </p:nvSpPr>
        <p:spPr>
          <a:xfrm>
            <a:off x="160824" y="132356"/>
            <a:ext cx="10105200" cy="5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24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6" name="Google Shape;256;p50"/>
          <p:cNvSpPr txBox="1">
            <a:spLocks noGrp="1"/>
          </p:cNvSpPr>
          <p:nvPr>
            <p:ph type="sldNum" idx="12"/>
          </p:nvPr>
        </p:nvSpPr>
        <p:spPr>
          <a:xfrm>
            <a:off x="11409045" y="6485535"/>
            <a:ext cx="731600" cy="266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r">
              <a:buNone/>
              <a:defRPr sz="1067"/>
            </a:lvl1pPr>
            <a:lvl2pPr lvl="1" algn="r">
              <a:buNone/>
              <a:defRPr sz="1067"/>
            </a:lvl2pPr>
            <a:lvl3pPr lvl="2" algn="r">
              <a:buNone/>
              <a:defRPr sz="1067"/>
            </a:lvl3pPr>
            <a:lvl4pPr lvl="3" algn="r">
              <a:buNone/>
              <a:defRPr sz="1067"/>
            </a:lvl4pPr>
            <a:lvl5pPr lvl="4" algn="r">
              <a:buNone/>
              <a:defRPr sz="1067"/>
            </a:lvl5pPr>
            <a:lvl6pPr lvl="5" algn="r">
              <a:buNone/>
              <a:defRPr sz="1067"/>
            </a:lvl6pPr>
            <a:lvl7pPr lvl="6" algn="r">
              <a:buNone/>
              <a:defRPr sz="1067"/>
            </a:lvl7pPr>
            <a:lvl8pPr lvl="7" algn="r">
              <a:buNone/>
              <a:defRPr sz="1067"/>
            </a:lvl8pPr>
            <a:lvl9pPr lvl="8" algn="r">
              <a:buNone/>
              <a:defRPr sz="1067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43768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0"/>
            <a:ext cx="12188950" cy="685628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5"/>
          <p:cNvSpPr txBox="1">
            <a:spLocks noGrp="1"/>
          </p:cNvSpPr>
          <p:nvPr>
            <p:ph type="title"/>
          </p:nvPr>
        </p:nvSpPr>
        <p:spPr>
          <a:xfrm>
            <a:off x="129212" y="136525"/>
            <a:ext cx="10098300" cy="10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1"/>
          </p:nvPr>
        </p:nvSpPr>
        <p:spPr>
          <a:xfrm>
            <a:off x="838208" y="1280160"/>
            <a:ext cx="10515600" cy="46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92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dt" idx="10"/>
          </p:nvPr>
        </p:nvSpPr>
        <p:spPr>
          <a:xfrm>
            <a:off x="83820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ftr" idx="11"/>
          </p:nvPr>
        </p:nvSpPr>
        <p:spPr>
          <a:xfrm>
            <a:off x="4038642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sldNum" idx="12"/>
          </p:nvPr>
        </p:nvSpPr>
        <p:spPr>
          <a:xfrm>
            <a:off x="8610688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smart.oic.or.th/policy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.oic.or.th/policy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mart.oic.or.th/policy/Logi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/>
        </p:nvSpPr>
        <p:spPr>
          <a:xfrm>
            <a:off x="86875" y="3162925"/>
            <a:ext cx="11982300" cy="1329000"/>
          </a:xfrm>
          <a:prstGeom prst="rect">
            <a:avLst/>
          </a:prstGeom>
          <a:noFill/>
          <a:ln>
            <a:noFill/>
          </a:ln>
          <a:effectLst>
            <a:outerShdw blurRad="57150" dist="114300" dir="660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lnSpc>
                <a:spcPct val="80000"/>
              </a:lnSpc>
              <a:buSzPts val="275"/>
            </a:pPr>
            <a:r>
              <a:rPr lang="en-US" sz="6000" b="1">
                <a:solidFill>
                  <a:schemeClr val="lt1"/>
                </a:solidFill>
                <a:latin typeface="Barlow"/>
                <a:ea typeface="Barlow"/>
                <a:cs typeface="Barlow"/>
              </a:rPr>
              <a:t>E-Policy  &amp; Custodian OIC Project </a:t>
            </a:r>
            <a:endParaRPr lang="en-US" sz="1800">
              <a:solidFill>
                <a:schemeClr val="lt1"/>
              </a:solidFill>
            </a:endParaRPr>
          </a:p>
          <a:p>
            <a:pPr algn="ctr">
              <a:lnSpc>
                <a:spcPct val="80000"/>
              </a:lnSpc>
              <a:buSzPts val="275"/>
            </a:pPr>
            <a:endParaRPr sz="40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44" name="Google Shape;244;p41"/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BF7F604-77E2-6159-D051-401D50D15EC8}"/>
              </a:ext>
            </a:extLst>
          </p:cNvPr>
          <p:cNvSpPr txBox="1"/>
          <p:nvPr/>
        </p:nvSpPr>
        <p:spPr>
          <a:xfrm>
            <a:off x="181429" y="156029"/>
            <a:ext cx="60960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>
                <a:solidFill>
                  <a:schemeClr val="bg2"/>
                </a:solidFill>
                <a:latin typeface="Barlow"/>
              </a:rPr>
              <a:t>Objective &amp; Scope</a:t>
            </a:r>
            <a:endParaRPr lang="en-US" err="1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984E1-2A7C-6672-780B-8AA44834A3EB}"/>
              </a:ext>
            </a:extLst>
          </p:cNvPr>
          <p:cNvSpPr txBox="1"/>
          <p:nvPr/>
        </p:nvSpPr>
        <p:spPr>
          <a:xfrm>
            <a:off x="362855" y="801913"/>
            <a:ext cx="11596913" cy="47828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lvl="1"/>
            <a:r>
              <a:rPr lang="en-US" sz="1200" b="1"/>
              <a:t>Objective :</a:t>
            </a:r>
            <a:r>
              <a:rPr lang="en-US" sz="1200"/>
              <a:t> </a:t>
            </a:r>
            <a:r>
              <a:rPr lang="en-US" sz="1200" err="1"/>
              <a:t>เพื่อรองรับกับการออกกรมธรรม์ประกันภัยในรูปแบบ</a:t>
            </a:r>
            <a:r>
              <a:rPr lang="en-US" sz="1200"/>
              <a:t> e-Policy </a:t>
            </a:r>
            <a:r>
              <a:rPr lang="en-US" sz="1200" err="1"/>
              <a:t>และนำส่งข้อมูลเข้าสู่ระบบ</a:t>
            </a:r>
            <a:r>
              <a:rPr lang="en-US" sz="1200"/>
              <a:t> Custodian</a:t>
            </a:r>
          </a:p>
          <a:p>
            <a:pPr marL="171450" lvl="1"/>
            <a:endParaRPr lang="en-US" sz="1200"/>
          </a:p>
          <a:p>
            <a:pPr marL="171450" lvl="1"/>
            <a:r>
              <a:rPr lang="en-US" sz="1200" b="1"/>
              <a:t>Scope : </a:t>
            </a:r>
          </a:p>
          <a:p>
            <a:pPr marL="457200" lvl="1" indent="-285750">
              <a:buFont typeface="Courier New"/>
              <a:buChar char="o"/>
            </a:pPr>
            <a:r>
              <a:rPr lang="en-US" sz="1200" err="1"/>
              <a:t>กำหนดให้กรมธรรม์ประกันภัยประเภทต่อไปนี้</a:t>
            </a:r>
            <a:r>
              <a:rPr lang="en-US" sz="1200"/>
              <a:t> </a:t>
            </a:r>
            <a:r>
              <a:rPr lang="en-US" sz="1200" err="1"/>
              <a:t>จะต้องออกกรมธรรม์ประกันภัยโดยใช้วิธีการทำงอิเล็กทรอนิกส์</a:t>
            </a:r>
            <a:r>
              <a:rPr lang="en-US" sz="1200"/>
              <a:t> (e-Policy) </a:t>
            </a:r>
          </a:p>
          <a:p>
            <a:pPr marL="914400" lvl="2" indent="-285750">
              <a:buFont typeface="Wingdings"/>
              <a:buChar char="§"/>
            </a:pPr>
            <a:r>
              <a:rPr lang="en-US" sz="1200" err="1"/>
              <a:t>ประกันวินาศภัย</a:t>
            </a:r>
            <a:r>
              <a:rPr lang="en-US" sz="1200"/>
              <a:t> </a:t>
            </a:r>
          </a:p>
          <a:p>
            <a:pPr marL="1371600" lvl="3" indent="-285750">
              <a:buFont typeface="Courier New"/>
              <a:buChar char="o"/>
            </a:pPr>
            <a:r>
              <a:rPr lang="en-US" sz="1200" err="1"/>
              <a:t>กรมธรรม์ประกันภัยรถยนต์ภาคบังคับ</a:t>
            </a:r>
            <a:r>
              <a:rPr lang="en-US" sz="1200"/>
              <a:t> </a:t>
            </a:r>
          </a:p>
          <a:p>
            <a:pPr marL="1371600" lvl="3" indent="-285750">
              <a:buFont typeface="Courier New"/>
              <a:buChar char="o"/>
            </a:pPr>
            <a:r>
              <a:rPr lang="en-US" sz="1200" err="1"/>
              <a:t>กรมธรรม์ประกันภัยรถยนต์ภาคสมัครใจ</a:t>
            </a:r>
            <a:r>
              <a:rPr lang="en-US" sz="1200"/>
              <a:t> </a:t>
            </a:r>
          </a:p>
          <a:p>
            <a:pPr marL="1371600" lvl="3" indent="-285750">
              <a:buFont typeface="Courier New"/>
              <a:buChar char="o"/>
            </a:pPr>
            <a:r>
              <a:rPr lang="en-US" sz="1200" err="1"/>
              <a:t>กรมธรรม์ประกันภัยอุบัติเหตุส่วนบุคคล</a:t>
            </a:r>
            <a:r>
              <a:rPr lang="en-US" sz="1200"/>
              <a:t> (PA) </a:t>
            </a:r>
          </a:p>
          <a:p>
            <a:pPr marL="1371600" lvl="3" indent="-285750">
              <a:buFont typeface="Courier New"/>
              <a:buChar char="o"/>
            </a:pPr>
            <a:r>
              <a:rPr lang="en-US" sz="1200" err="1"/>
              <a:t>กรมธรรม์ประกันภัยกำรเดินทางส่วนบุคคล</a:t>
            </a:r>
            <a:r>
              <a:rPr lang="en-US" sz="1200"/>
              <a:t> </a:t>
            </a:r>
          </a:p>
          <a:p>
            <a:pPr marL="1371600" lvl="3" indent="-285750">
              <a:buFont typeface="Courier New"/>
              <a:buChar char="o"/>
            </a:pPr>
            <a:r>
              <a:rPr lang="en-US" sz="1200" err="1"/>
              <a:t>กรมธรรม์ประกันภัยรายย่อย</a:t>
            </a:r>
            <a:r>
              <a:rPr lang="en-US" sz="1200"/>
              <a:t> (</a:t>
            </a:r>
            <a:r>
              <a:rPr lang="en-US" sz="1200" err="1"/>
              <a:t>ไมโครอินชัวรันส์</a:t>
            </a:r>
            <a:r>
              <a:rPr lang="en-US" sz="1200"/>
              <a:t>) </a:t>
            </a:r>
          </a:p>
          <a:p>
            <a:pPr marL="1085850" lvl="3"/>
            <a:endParaRPr lang="en-US" sz="1200"/>
          </a:p>
          <a:p>
            <a:pPr marL="914400" lvl="2" indent="-285750">
              <a:buFont typeface="Wingdings"/>
              <a:buChar char="§"/>
            </a:pPr>
            <a:r>
              <a:rPr lang="en-US" sz="1200" err="1"/>
              <a:t>ประกันชีวิต</a:t>
            </a:r>
            <a:r>
              <a:rPr lang="en-US" sz="1200"/>
              <a:t> </a:t>
            </a:r>
          </a:p>
          <a:p>
            <a:pPr marL="1371600" lvl="3" indent="-285750">
              <a:buFont typeface="Courier New"/>
              <a:buChar char="o"/>
            </a:pPr>
            <a:r>
              <a:rPr lang="en-US" sz="1200" err="1"/>
              <a:t>ทุกผลิตภัณฑ์ประเภทสำมัญ</a:t>
            </a:r>
            <a:r>
              <a:rPr lang="en-US" sz="1200"/>
              <a:t> </a:t>
            </a:r>
            <a:r>
              <a:rPr lang="en-US" sz="1200" err="1"/>
              <a:t>รวมถึงกรมธรรม์ประกันภัยอุบัติเหตุส่วนบุคคล</a:t>
            </a:r>
            <a:r>
              <a:rPr lang="en-US" sz="1200"/>
              <a:t> (PA) </a:t>
            </a:r>
            <a:r>
              <a:rPr lang="en-US" sz="1200" err="1"/>
              <a:t>และกรมธรรม์ประกันภัยรายย่อย</a:t>
            </a:r>
            <a:r>
              <a:rPr lang="en-US" sz="1200"/>
              <a:t> (</a:t>
            </a:r>
            <a:r>
              <a:rPr lang="en-US" sz="1200" err="1"/>
              <a:t>ไมโครอินชัวรันส์</a:t>
            </a:r>
            <a:r>
              <a:rPr lang="en-US" sz="1200"/>
              <a:t>)</a:t>
            </a:r>
          </a:p>
          <a:p>
            <a:pPr marL="285750" indent="-285750">
              <a:buFont typeface="Courier New"/>
              <a:buChar char="o"/>
            </a:pPr>
            <a:r>
              <a:rPr lang="en-US" sz="1200" err="1"/>
              <a:t>ให้ระบุข้อความในตารางกรมธรรม์ประกันภัยทุกฉบับ</a:t>
            </a:r>
            <a:endParaRPr lang="en-US" sz="1200"/>
          </a:p>
          <a:p>
            <a:pPr lvl="3"/>
            <a:r>
              <a:rPr lang="en-US" sz="1200"/>
              <a:t>  “</a:t>
            </a:r>
            <a:r>
              <a:rPr lang="en-US" sz="1200" err="1"/>
              <a:t>หมายเหตุ</a:t>
            </a:r>
            <a:endParaRPr lang="en-US" sz="1200"/>
          </a:p>
          <a:p>
            <a:pPr lvl="3"/>
            <a:r>
              <a:rPr lang="en-US" sz="1200"/>
              <a:t>   (1) </a:t>
            </a:r>
            <a:r>
              <a:rPr lang="en-US" sz="1200" err="1"/>
              <a:t>ผู้เอาประกันภัยสามารถตรวจสอบการทำประกันภัยได้ที่่</a:t>
            </a:r>
            <a:r>
              <a:rPr lang="en-US" sz="1200"/>
              <a:t>...................(</a:t>
            </a:r>
            <a:r>
              <a:rPr lang="en-US" sz="1200" err="1"/>
              <a:t>ช่องทางของบริษัท</a:t>
            </a:r>
            <a:r>
              <a:rPr lang="en-US" sz="1200"/>
              <a:t>).....................</a:t>
            </a:r>
            <a:r>
              <a:rPr lang="en-US" sz="1200" err="1"/>
              <a:t>และ</a:t>
            </a:r>
            <a:r>
              <a:rPr lang="en-US" sz="1200"/>
              <a:t> </a:t>
            </a:r>
            <a:r>
              <a:rPr lang="en-US" sz="1200">
                <a:hlinkClick r:id="rId2"/>
              </a:rPr>
              <a:t>https://smart.oic.or.th/policy</a:t>
            </a:r>
            <a:endParaRPr lang="en-US" sz="1200"/>
          </a:p>
          <a:p>
            <a:pPr lvl="3"/>
            <a:r>
              <a:rPr lang="en-US" sz="1200"/>
              <a:t>   (2) กรมธรรม์ประกันภัยนี้ได้จัดทำและออกให้แก่ผู้เอาประกันภัยด้วยวิธีการทางอิเล็กทรอนิกส์ </a:t>
            </a:r>
            <a:r>
              <a:rPr lang="en-US" sz="1200" err="1"/>
              <a:t>รวมทั้งได้นำส่งข้อมูลให้แก่สำนักงาน</a:t>
            </a:r>
            <a:r>
              <a:rPr lang="en-US" sz="1200"/>
              <a:t> </a:t>
            </a:r>
            <a:r>
              <a:rPr lang="en-US" sz="1200" err="1"/>
              <a:t>คปภ</a:t>
            </a:r>
            <a:r>
              <a:rPr lang="en-US" sz="1200"/>
              <a:t>. </a:t>
            </a:r>
            <a:r>
              <a:rPr lang="en-US" sz="1200" err="1"/>
              <a:t>ด้วยวิธีการทางอิเล็กทรอนิกส์แล้ว</a:t>
            </a:r>
            <a:r>
              <a:rPr lang="en-US" sz="1200"/>
              <a:t>”</a:t>
            </a:r>
          </a:p>
          <a:p>
            <a:pPr marL="457200" lvl="1" indent="-285750">
              <a:buFont typeface="Courier New"/>
              <a:buChar char="o"/>
            </a:pPr>
            <a:r>
              <a:rPr lang="en-US" sz="1200"/>
              <a:t>เพิ่มข้อความในใบคาขอเอาประกันภัยหรือเปิดเผยไปพร้อมกับการเสนอขายกรมธรรม์ประกันภัยตามช่องทางการเสนอขาย</a:t>
            </a:r>
          </a:p>
          <a:p>
            <a:pPr marL="914400" lvl="2" indent="-285750">
              <a:buFont typeface="Wingdings"/>
              <a:buChar char="§"/>
            </a:pPr>
            <a:r>
              <a:rPr lang="en-US" sz="1200"/>
              <a:t>“</a:t>
            </a:r>
            <a:r>
              <a:rPr lang="en-US" sz="1200" err="1"/>
              <a:t>ข้าพเจ้าประสงค์ให้บริษัทฯ</a:t>
            </a:r>
            <a:r>
              <a:rPr lang="en-US" sz="1200"/>
              <a:t> ส่งกรมธรรม์ประกันภัยของข้ำพเจ้าโดยใช้วิธีการทางอิเล็กทรอนิกส์ผ่าน</a:t>
            </a:r>
          </a:p>
        </p:txBody>
      </p:sp>
    </p:spTree>
    <p:extLst>
      <p:ext uri="{BB962C8B-B14F-4D97-AF65-F5344CB8AC3E}">
        <p14:creationId xmlns:p14="http://schemas.microsoft.com/office/powerpoint/2010/main" val="342075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9918500" y="6607627"/>
            <a:ext cx="2193600" cy="2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th" sz="933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33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11570800" y="6508751"/>
            <a:ext cx="62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45675" y="-19237"/>
            <a:ext cx="11937600" cy="461600"/>
          </a:xfrm>
          <a:prstGeom prst="rect">
            <a:avLst/>
          </a:prstGeom>
          <a:noFill/>
          <a:ln>
            <a:noFill/>
          </a:ln>
          <a:effectLst>
            <a:outerShdw blurRad="57150" dist="38100" dir="3300000" algn="bl" rotWithShape="0">
              <a:srgbClr val="000000">
                <a:alpha val="34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th" sz="2400" b="1">
              <a:solidFill>
                <a:srgbClr val="1E4E7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E97B10-8226-EF6F-F74D-757E01AE5F32}"/>
              </a:ext>
            </a:extLst>
          </p:cNvPr>
          <p:cNvSpPr txBox="1"/>
          <p:nvPr/>
        </p:nvSpPr>
        <p:spPr>
          <a:xfrm>
            <a:off x="0" y="-18143"/>
            <a:ext cx="515257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chemeClr val="bg2"/>
                </a:solidFill>
                <a:latin typeface="Barlow Medium"/>
              </a:rPr>
              <a:t>Business Impact / Business Change </a:t>
            </a:r>
            <a:endParaRPr lang="en-US" b="1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013B3-9418-4B57-EADF-F39212EBF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59" y="667657"/>
            <a:ext cx="6126174" cy="57186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AA63D4-2961-B006-CA43-7F75CA3B82BF}"/>
              </a:ext>
            </a:extLst>
          </p:cNvPr>
          <p:cNvSpPr/>
          <p:nvPr/>
        </p:nvSpPr>
        <p:spPr>
          <a:xfrm>
            <a:off x="5780965" y="2375959"/>
            <a:ext cx="2026834" cy="463170"/>
          </a:xfrm>
          <a:prstGeom prst="rect">
            <a:avLst/>
          </a:prstGeom>
          <a:solidFill>
            <a:srgbClr val="ED7D3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1"/>
                </a:solidFill>
                <a:cs typeface="Arial"/>
              </a:rPr>
              <a:t>หน้าตารางกรมธรรม์</a:t>
            </a:r>
            <a:r>
              <a:rPr lang="en-US" sz="1800">
                <a:solidFill>
                  <a:schemeClr val="bg2"/>
                </a:solidFill>
                <a:cs typeface="Arial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0389AF-4BBD-8EF4-E678-4ACF34F4AB28}"/>
              </a:ext>
            </a:extLst>
          </p:cNvPr>
          <p:cNvSpPr/>
          <p:nvPr/>
        </p:nvSpPr>
        <p:spPr>
          <a:xfrm>
            <a:off x="5780964" y="4226530"/>
            <a:ext cx="2026834" cy="463170"/>
          </a:xfrm>
          <a:prstGeom prst="rect">
            <a:avLst/>
          </a:prstGeom>
          <a:solidFill>
            <a:srgbClr val="ED7D31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1"/>
                </a:solidFill>
                <a:cs typeface="Arial"/>
              </a:rPr>
              <a:t>ใบคำขอเอาประกัน</a:t>
            </a:r>
            <a:r>
              <a:rPr lang="en-US" sz="1800">
                <a:solidFill>
                  <a:schemeClr val="bg1"/>
                </a:solidFill>
                <a:cs typeface="Arial"/>
              </a:rPr>
              <a:t> </a:t>
            </a:r>
          </a:p>
        </p:txBody>
      </p:sp>
      <p:sp>
        <p:nvSpPr>
          <p:cNvPr id="12" name="Multiplication Sign 11">
            <a:extLst>
              <a:ext uri="{FF2B5EF4-FFF2-40B4-BE49-F238E27FC236}">
                <a16:creationId xmlns:a16="http://schemas.microsoft.com/office/drawing/2014/main" id="{ACBAF9B6-0E7C-0298-CEB1-DEB1FD1C63B6}"/>
              </a:ext>
            </a:extLst>
          </p:cNvPr>
          <p:cNvSpPr/>
          <p:nvPr/>
        </p:nvSpPr>
        <p:spPr>
          <a:xfrm>
            <a:off x="7916516" y="2951786"/>
            <a:ext cx="1273718" cy="955289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29EABAC0-3A0D-A91E-D938-35915B561A97}"/>
              </a:ext>
            </a:extLst>
          </p:cNvPr>
          <p:cNvSpPr/>
          <p:nvPr/>
        </p:nvSpPr>
        <p:spPr>
          <a:xfrm>
            <a:off x="9473022" y="2402094"/>
            <a:ext cx="1534252" cy="205531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cs typeface="Arial"/>
              </a:rPr>
              <a:t>PAPER  POLICY PACK </a:t>
            </a:r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07820B-734A-63F8-6DF0-F0519EC04CF5}"/>
              </a:ext>
            </a:extLst>
          </p:cNvPr>
          <p:cNvSpPr txBox="1"/>
          <p:nvPr/>
        </p:nvSpPr>
        <p:spPr>
          <a:xfrm>
            <a:off x="6380655" y="5210667"/>
            <a:ext cx="530470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solidFill>
                  <a:srgbClr val="00B0F0"/>
                </a:solidFill>
              </a:rPr>
              <a:t>2027 EPOLICY  is  ORIGINAL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34BFE3-E8FD-6CC0-B531-89CC38E3614B}"/>
              </a:ext>
            </a:extLst>
          </p:cNvPr>
          <p:cNvSpPr/>
          <p:nvPr/>
        </p:nvSpPr>
        <p:spPr>
          <a:xfrm>
            <a:off x="289320" y="4761770"/>
            <a:ext cx="5804105" cy="969763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63500" dist="38100" dir="2700000">
              <a:srgbClr val="000000">
                <a:alpha val="40000"/>
              </a:srgbClr>
            </a:outerShdw>
            <a:reflection stA="40000" endPos="5400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891A-6D6F-744B-6BA8-86EDE5DA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B370C-C9DF-D132-DA24-4FE4CE989F45}"/>
              </a:ext>
            </a:extLst>
          </p:cNvPr>
          <p:cNvSpPr txBox="1"/>
          <p:nvPr/>
        </p:nvSpPr>
        <p:spPr>
          <a:xfrm>
            <a:off x="399143" y="40277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Barlow Medium"/>
              </a:rPr>
              <a:t>OIC Project Timeline </a:t>
            </a:r>
          </a:p>
          <a:p>
            <a:pPr algn="ctr"/>
            <a:endParaRPr lang="en-US"/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D4957151-C037-6461-3C09-33AD1CB74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14" y="1180830"/>
            <a:ext cx="11654972" cy="536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0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81A4A59-BE14-046F-1AC2-92E99763F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70" y="1235755"/>
            <a:ext cx="11567432" cy="29495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F16BCC-32A7-34A6-F153-CC07C0504348}"/>
              </a:ext>
            </a:extLst>
          </p:cNvPr>
          <p:cNvSpPr txBox="1"/>
          <p:nvPr/>
        </p:nvSpPr>
        <p:spPr>
          <a:xfrm>
            <a:off x="399143" y="40277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Barlow Medium"/>
              </a:rPr>
              <a:t>TLI Project Timeline (Draft)</a:t>
            </a:r>
          </a:p>
          <a:p>
            <a:pPr algn="ctr"/>
            <a:endParaRPr lang="en-US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8AEFD5EC-7045-1581-86D7-FF28C47EC464}"/>
              </a:ext>
            </a:extLst>
          </p:cNvPr>
          <p:cNvSpPr/>
          <p:nvPr/>
        </p:nvSpPr>
        <p:spPr>
          <a:xfrm>
            <a:off x="9831615" y="3914321"/>
            <a:ext cx="285750" cy="20955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22A886C0-2A1D-30B4-DC0F-CE4DDB9AFA37}"/>
              </a:ext>
            </a:extLst>
          </p:cNvPr>
          <p:cNvSpPr/>
          <p:nvPr/>
        </p:nvSpPr>
        <p:spPr>
          <a:xfrm>
            <a:off x="4176032" y="1094468"/>
            <a:ext cx="112939" cy="3241221"/>
          </a:xfrm>
          <a:prstGeom prst="upArrow">
            <a:avLst/>
          </a:prstGeom>
          <a:solidFill>
            <a:srgbClr val="FFC000"/>
          </a:solidFill>
          <a:ln w="63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tar: 5 Points 11">
            <a:extLst>
              <a:ext uri="{FF2B5EF4-FFF2-40B4-BE49-F238E27FC236}">
                <a16:creationId xmlns:a16="http://schemas.microsoft.com/office/drawing/2014/main" id="{D251BC80-1F0A-1426-E5D3-FEA99CC5DF71}"/>
              </a:ext>
            </a:extLst>
          </p:cNvPr>
          <p:cNvSpPr/>
          <p:nvPr/>
        </p:nvSpPr>
        <p:spPr>
          <a:xfrm>
            <a:off x="4091214" y="880834"/>
            <a:ext cx="285750" cy="209550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7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57A263D-329E-A4D1-EEBE-AA18793D6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>
            <a:extLst>
              <a:ext uri="{FF2B5EF4-FFF2-40B4-BE49-F238E27FC236}">
                <a16:creationId xmlns:a16="http://schemas.microsoft.com/office/drawing/2014/main" id="{41B5B5AA-D95D-F10C-C00E-2E10197EDCA7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4" name="Google Shape;314;p48">
            <a:extLst>
              <a:ext uri="{FF2B5EF4-FFF2-40B4-BE49-F238E27FC236}">
                <a16:creationId xmlns:a16="http://schemas.microsoft.com/office/drawing/2014/main" id="{9A31A24E-CAEA-1F38-BBA7-439202476EE4}"/>
              </a:ext>
            </a:extLst>
          </p:cNvPr>
          <p:cNvSpPr txBox="1"/>
          <p:nvPr/>
        </p:nvSpPr>
        <p:spPr>
          <a:xfrm>
            <a:off x="11570800" y="6508750"/>
            <a:ext cx="62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4B868F-74B5-7B1B-6A20-FF73A40AFD45}"/>
              </a:ext>
            </a:extLst>
          </p:cNvPr>
          <p:cNvSpPr txBox="1"/>
          <p:nvPr/>
        </p:nvSpPr>
        <p:spPr>
          <a:xfrm>
            <a:off x="239486" y="417286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i="0" u="none" strike="noStrike" baseline="0">
                <a:solidFill>
                  <a:schemeClr val="bg2"/>
                </a:solidFill>
                <a:latin typeface="Barlow"/>
              </a:rPr>
              <a:t>Background project</a:t>
            </a:r>
            <a:endParaRPr lang="en-US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39714BBF-9922-FFBA-7A54-A21D3B46A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13682" y="1013278"/>
            <a:ext cx="99631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387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AB0667B4-4CBC-CA2B-237D-97E910FC9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>
            <a:extLst>
              <a:ext uri="{FF2B5EF4-FFF2-40B4-BE49-F238E27FC236}">
                <a16:creationId xmlns:a16="http://schemas.microsoft.com/office/drawing/2014/main" id="{25875CAC-D85D-19BF-BE00-6E64CECDCE31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4" name="Google Shape;314;p48">
            <a:extLst>
              <a:ext uri="{FF2B5EF4-FFF2-40B4-BE49-F238E27FC236}">
                <a16:creationId xmlns:a16="http://schemas.microsoft.com/office/drawing/2014/main" id="{BA0955A7-76A6-865E-6BC8-46BC340DF097}"/>
              </a:ext>
            </a:extLst>
          </p:cNvPr>
          <p:cNvSpPr txBox="1"/>
          <p:nvPr/>
        </p:nvSpPr>
        <p:spPr>
          <a:xfrm>
            <a:off x="11570800" y="6508750"/>
            <a:ext cx="62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7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16E1A4-D893-968E-D858-D8C4AEF6F0C5}"/>
              </a:ext>
            </a:extLst>
          </p:cNvPr>
          <p:cNvSpPr txBox="1"/>
          <p:nvPr/>
        </p:nvSpPr>
        <p:spPr>
          <a:xfrm>
            <a:off x="0" y="-3628"/>
            <a:ext cx="515257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chemeClr val="bg2"/>
                </a:solidFill>
                <a:latin typeface="Barlow Medium"/>
              </a:rPr>
              <a:t>Business Impact / Business Change </a:t>
            </a:r>
            <a:endParaRPr lang="en-US" b="1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7C69A-9039-2C81-2EF3-255DD3E68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70" y="537256"/>
            <a:ext cx="10007146" cy="59721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059A8E-AD8D-69DF-C6B0-EF1F3AB8AFDA}"/>
              </a:ext>
            </a:extLst>
          </p:cNvPr>
          <p:cNvSpPr txBox="1"/>
          <p:nvPr/>
        </p:nvSpPr>
        <p:spPr>
          <a:xfrm>
            <a:off x="8152041" y="166392"/>
            <a:ext cx="28564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chemeClr val="accent1"/>
                </a:solidFill>
              </a:rPr>
              <a:t>AS IS PROCESS </a:t>
            </a:r>
          </a:p>
        </p:txBody>
      </p:sp>
    </p:spTree>
    <p:extLst>
      <p:ext uri="{BB962C8B-B14F-4D97-AF65-F5344CB8AC3E}">
        <p14:creationId xmlns:p14="http://schemas.microsoft.com/office/powerpoint/2010/main" val="1170051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52D7A754-16D4-6E16-7D0E-2498CF5F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>
            <a:extLst>
              <a:ext uri="{FF2B5EF4-FFF2-40B4-BE49-F238E27FC236}">
                <a16:creationId xmlns:a16="http://schemas.microsoft.com/office/drawing/2014/main" id="{E33C0E76-86E3-A29E-2BB9-6B578FED5175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4" name="Google Shape;314;p48">
            <a:extLst>
              <a:ext uri="{FF2B5EF4-FFF2-40B4-BE49-F238E27FC236}">
                <a16:creationId xmlns:a16="http://schemas.microsoft.com/office/drawing/2014/main" id="{A9740CE5-FB4E-56B6-1964-6209E8157468}"/>
              </a:ext>
            </a:extLst>
          </p:cNvPr>
          <p:cNvSpPr txBox="1"/>
          <p:nvPr/>
        </p:nvSpPr>
        <p:spPr>
          <a:xfrm>
            <a:off x="11570800" y="6508750"/>
            <a:ext cx="62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8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1D6B8-EBA9-06D8-2CD8-A3FC723A27BE}"/>
              </a:ext>
            </a:extLst>
          </p:cNvPr>
          <p:cNvSpPr txBox="1"/>
          <p:nvPr/>
        </p:nvSpPr>
        <p:spPr>
          <a:xfrm>
            <a:off x="0" y="-3628"/>
            <a:ext cx="515257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chemeClr val="bg2"/>
                </a:solidFill>
                <a:latin typeface="Barlow Medium"/>
              </a:rPr>
              <a:t>Business Impact / Business Change </a:t>
            </a:r>
            <a:endParaRPr lang="en-US" b="1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5A3DA4-55B2-7593-3214-2D318BE983B4}"/>
              </a:ext>
            </a:extLst>
          </p:cNvPr>
          <p:cNvSpPr txBox="1"/>
          <p:nvPr/>
        </p:nvSpPr>
        <p:spPr>
          <a:xfrm>
            <a:off x="8485870" y="35763"/>
            <a:ext cx="285649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>
                <a:solidFill>
                  <a:schemeClr val="accent1"/>
                </a:solidFill>
              </a:rPr>
              <a:t>TO BE PROCESS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6B164E-3938-2C6C-31CB-078409AAA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61" y="405267"/>
            <a:ext cx="1061085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74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0"/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14" name="Google Shape;514;p70"/>
          <p:cNvSpPr txBox="1"/>
          <p:nvPr/>
        </p:nvSpPr>
        <p:spPr>
          <a:xfrm>
            <a:off x="494000" y="2296300"/>
            <a:ext cx="10578900" cy="987300"/>
          </a:xfrm>
          <a:prstGeom prst="rect">
            <a:avLst/>
          </a:prstGeom>
          <a:noFill/>
          <a:ln>
            <a:noFill/>
          </a:ln>
          <a:effectLst>
            <a:outerShdw blurRad="57150" dist="57150" dir="660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7300" b="1">
              <a:solidFill>
                <a:schemeClr val="lt2"/>
              </a:solidFill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TH" sz="6900" b="1">
                <a:solidFill>
                  <a:schemeClr val="lt2"/>
                </a:solidFill>
                <a:latin typeface="Barlow"/>
                <a:ea typeface="Barlow"/>
                <a:cs typeface="Barlow"/>
                <a:sym typeface="Barlow"/>
              </a:rPr>
              <a:t>Thank You</a:t>
            </a:r>
            <a:endParaRPr sz="5400">
              <a:solidFill>
                <a:schemeClr val="lt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>
          <a:extLst>
            <a:ext uri="{FF2B5EF4-FFF2-40B4-BE49-F238E27FC236}">
              <a16:creationId xmlns:a16="http://schemas.microsoft.com/office/drawing/2014/main" id="{14A2AC5E-06E5-1B26-E94B-9644C8135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0">
            <a:extLst>
              <a:ext uri="{FF2B5EF4-FFF2-40B4-BE49-F238E27FC236}">
                <a16:creationId xmlns:a16="http://schemas.microsoft.com/office/drawing/2014/main" id="{A6A30216-D196-D100-5E7D-8E410D22B2F6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514" name="Google Shape;514;p70">
            <a:extLst>
              <a:ext uri="{FF2B5EF4-FFF2-40B4-BE49-F238E27FC236}">
                <a16:creationId xmlns:a16="http://schemas.microsoft.com/office/drawing/2014/main" id="{3F63D1F8-F263-74DC-9A63-AF75767D6287}"/>
              </a:ext>
            </a:extLst>
          </p:cNvPr>
          <p:cNvSpPr txBox="1"/>
          <p:nvPr/>
        </p:nvSpPr>
        <p:spPr>
          <a:xfrm>
            <a:off x="494000" y="2296300"/>
            <a:ext cx="10578900" cy="987300"/>
          </a:xfrm>
          <a:prstGeom prst="rect">
            <a:avLst/>
          </a:prstGeom>
          <a:noFill/>
          <a:ln>
            <a:noFill/>
          </a:ln>
          <a:effectLst>
            <a:outerShdw blurRad="57150" dist="57150" dir="660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7300" b="1">
              <a:latin typeface="Barlow"/>
              <a:ea typeface="Barlow"/>
              <a:cs typeface="Barlow"/>
              <a:sym typeface="Barlow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TH" sz="6900" b="1">
                <a:latin typeface="Barlow"/>
                <a:ea typeface="Barlow Medium"/>
                <a:cs typeface="Barlow Medium"/>
                <a:sym typeface="Barlow"/>
              </a:rPr>
              <a:t>Appendix</a:t>
            </a:r>
            <a:endParaRPr sz="5400"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9010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4BD60988-B9B2-0AE7-68CE-9B92F5C8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>
            <a:extLst>
              <a:ext uri="{FF2B5EF4-FFF2-40B4-BE49-F238E27FC236}">
                <a16:creationId xmlns:a16="http://schemas.microsoft.com/office/drawing/2014/main" id="{EE18829B-1930-8F59-8476-72D417D11069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4" name="Google Shape;314;p48">
            <a:extLst>
              <a:ext uri="{FF2B5EF4-FFF2-40B4-BE49-F238E27FC236}">
                <a16:creationId xmlns:a16="http://schemas.microsoft.com/office/drawing/2014/main" id="{19D67CF8-01C1-90FF-CFD4-401EB649BB46}"/>
              </a:ext>
            </a:extLst>
          </p:cNvPr>
          <p:cNvSpPr txBox="1"/>
          <p:nvPr/>
        </p:nvSpPr>
        <p:spPr>
          <a:xfrm>
            <a:off x="11570800" y="6508750"/>
            <a:ext cx="62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11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BF21A-CD9B-9596-CB83-9B71DA31BE90}"/>
              </a:ext>
            </a:extLst>
          </p:cNvPr>
          <p:cNvSpPr txBox="1"/>
          <p:nvPr/>
        </p:nvSpPr>
        <p:spPr>
          <a:xfrm>
            <a:off x="239486" y="417286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i="0" u="none" strike="noStrike" baseline="0">
                <a:solidFill>
                  <a:schemeClr val="bg2"/>
                </a:solidFill>
                <a:latin typeface="Barlow"/>
              </a:rPr>
              <a:t>Background project</a:t>
            </a:r>
            <a:endParaRPr lang="en-US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FE3F9B-DD7E-BD20-4F5A-D82AF80A430D}"/>
              </a:ext>
            </a:extLst>
          </p:cNvPr>
          <p:cNvSpPr txBox="1"/>
          <p:nvPr/>
        </p:nvSpPr>
        <p:spPr>
          <a:xfrm>
            <a:off x="239486" y="1426029"/>
            <a:ext cx="7235371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800" b="1" err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ระบบ</a:t>
            </a:r>
            <a:r>
              <a:rPr lang="en-US" sz="18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Custodian </a:t>
            </a:r>
            <a:r>
              <a:rPr lang="en-US" sz="1800" b="1" err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ของ</a:t>
            </a:r>
            <a:r>
              <a:rPr lang="en-US" sz="18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OIC คือระบบกลาง</a:t>
            </a:r>
            <a:r>
              <a:rPr lang="en-US" sz="1800" b="1">
                <a:latin typeface="Roboto"/>
                <a:ea typeface="Roboto"/>
                <a:cs typeface="Roboto"/>
              </a:rPr>
              <a:t>สำหรับจัดเก็บ</a:t>
            </a:r>
            <a:r>
              <a:rPr lang="en-US" sz="18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และตรวจสอบกรมธรรม์</a:t>
            </a:r>
            <a:r>
              <a:rPr lang="en-US" sz="1800" b="1">
                <a:latin typeface="Roboto"/>
                <a:ea typeface="Roboto"/>
                <a:cs typeface="Roboto"/>
              </a:rPr>
              <a:t>ประกันภัยอิเล็กทรอนิกส์</a:t>
            </a:r>
            <a:r>
              <a:rPr lang="en-US" sz="1800" b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(e-Policy) เพื่อความปลอดภัยและความสะดวกในการเข้าถึงข้อมูลกรมธรรม์ทุกบริษัทในที่เดียว</a:t>
            </a:r>
          </a:p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195E7-9FE9-B3A1-3AD4-C861D1B07595}"/>
              </a:ext>
            </a:extLst>
          </p:cNvPr>
          <p:cNvSpPr txBox="1"/>
          <p:nvPr/>
        </p:nvSpPr>
        <p:spPr>
          <a:xfrm>
            <a:off x="6335486" y="3349172"/>
            <a:ext cx="4288971" cy="33424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err="1">
                <a:highlight>
                  <a:srgbClr val="FFFFFF"/>
                </a:highlight>
                <a:latin typeface="Roboto"/>
                <a:ea typeface="Roboto"/>
                <a:cs typeface="Roboto"/>
              </a:rPr>
              <a:t>วัตถุประสงค์หลักของระบบ</a:t>
            </a:r>
            <a:r>
              <a:rPr lang="en-US" sz="1800" b="1">
                <a:highlight>
                  <a:srgbClr val="FFFFFF"/>
                </a:highlight>
                <a:latin typeface="Roboto"/>
                <a:ea typeface="Roboto"/>
                <a:cs typeface="Roboto"/>
              </a:rPr>
              <a:t> Custodian   </a:t>
            </a:r>
            <a:endParaRPr lang="en-US" sz="1800" b="1"/>
          </a:p>
          <a:p>
            <a:pPr algn="l">
              <a:buFont typeface=""/>
              <a:buChar char="•"/>
            </a:pPr>
            <a:r>
              <a:rPr lang="en-US" sz="1600" err="1">
                <a:latin typeface="Roboto"/>
                <a:ea typeface="Roboto"/>
                <a:cs typeface="Roboto"/>
              </a:rPr>
              <a:t>จัดเก็บ</a:t>
            </a:r>
            <a:r>
              <a:rPr lang="en-US" sz="1600" b="0" i="0" err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กรมธรรม์ดิจิทัลอย่างปลอดภัยและถาวร</a:t>
            </a:r>
          </a:p>
          <a:p>
            <a:pPr>
              <a:buFont typeface=""/>
              <a:buChar char="•"/>
            </a:pPr>
            <a:r>
              <a:rPr lang="en-US" sz="1600" b="0" i="0" err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ลดการใช้เอกสารกระดาษและความเสี่ยงจาก</a:t>
            </a:r>
            <a:endParaRPr lang="en-US" sz="1600">
              <a:latin typeface="Roboto"/>
              <a:ea typeface="Roboto"/>
              <a:cs typeface="Roboto"/>
            </a:endParaRPr>
          </a:p>
          <a:p>
            <a:pPr algn="l"/>
            <a:r>
              <a:rPr lang="en-US" sz="1600" b="0" i="0" err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การสูญหายหรือเสียหาย</a:t>
            </a:r>
            <a:endParaRPr lang="en-US" sz="1600" b="0" i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algn="l">
              <a:buFont typeface=""/>
              <a:buChar char="•"/>
            </a:pPr>
            <a:r>
              <a:rPr lang="en-US" sz="1600" b="0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อำนวยความสะดวกให้ผู้เอาประกันสามารถตรวจสอบกรมธรรม์ของตนเองจากทุกบริษัทในที่เดียว</a:t>
            </a:r>
          </a:p>
          <a:p>
            <a:pPr algn="l">
              <a:buFont typeface=""/>
              <a:buChar char="•"/>
            </a:pPr>
            <a:r>
              <a:rPr lang="en-US" sz="1600" b="0" i="0" err="1">
                <a:solidFill>
                  <a:srgbClr val="000000"/>
                </a:solidFill>
                <a:latin typeface="Roboto"/>
                <a:ea typeface="Roboto"/>
                <a:cs typeface="Roboto"/>
              </a:rPr>
              <a:t>เพิ่มความโปร่งใสและความน่าเชื่อถือของธุรกรรมประกันภัย</a:t>
            </a:r>
            <a:endParaRPr lang="en-US" sz="1600" b="0" i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8E8AAD0-7D9C-D41B-5D9E-D9ACDD846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41" y="2558370"/>
            <a:ext cx="4618719" cy="38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437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C6DD0483-726C-1132-6740-3A31CCFA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>
            <a:extLst>
              <a:ext uri="{FF2B5EF4-FFF2-40B4-BE49-F238E27FC236}">
                <a16:creationId xmlns:a16="http://schemas.microsoft.com/office/drawing/2014/main" id="{BFC0CEE5-D8D2-409A-5291-2F03240B9CB1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4" name="Google Shape;314;p48">
            <a:extLst>
              <a:ext uri="{FF2B5EF4-FFF2-40B4-BE49-F238E27FC236}">
                <a16:creationId xmlns:a16="http://schemas.microsoft.com/office/drawing/2014/main" id="{BBD388EC-F847-2EF7-5DF1-C4319BC9E7A0}"/>
              </a:ext>
            </a:extLst>
          </p:cNvPr>
          <p:cNvSpPr txBox="1"/>
          <p:nvPr/>
        </p:nvSpPr>
        <p:spPr>
          <a:xfrm>
            <a:off x="11570800" y="6508750"/>
            <a:ext cx="62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5A468-ED87-8844-A21B-243008DB6763}"/>
              </a:ext>
            </a:extLst>
          </p:cNvPr>
          <p:cNvSpPr txBox="1"/>
          <p:nvPr/>
        </p:nvSpPr>
        <p:spPr>
          <a:xfrm>
            <a:off x="239486" y="417286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i="0" u="none" strike="noStrike" baseline="0">
                <a:solidFill>
                  <a:schemeClr val="bg2"/>
                </a:solidFill>
                <a:latin typeface="Barlow"/>
              </a:rPr>
              <a:t>Background project</a:t>
            </a:r>
            <a:endParaRPr lang="en-US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578EA8-4EED-A6A2-6294-A5E723585A37}"/>
              </a:ext>
            </a:extLst>
          </p:cNvPr>
          <p:cNvSpPr txBox="1"/>
          <p:nvPr/>
        </p:nvSpPr>
        <p:spPr>
          <a:xfrm>
            <a:off x="682170" y="1251858"/>
            <a:ext cx="2910115" cy="637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LINE @OICConnect</a:t>
            </a:r>
            <a:r>
              <a:rPr lang="en-US" sz="2000" b="0" i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: </a:t>
            </a:r>
            <a:endParaRPr lang="en-US" sz="2000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F30B8-DA86-40C6-CCB5-2A9E6C2C5A20}"/>
              </a:ext>
            </a:extLst>
          </p:cNvPr>
          <p:cNvSpPr txBox="1"/>
          <p:nvPr/>
        </p:nvSpPr>
        <p:spPr>
          <a:xfrm>
            <a:off x="6096000" y="1237343"/>
            <a:ext cx="3998685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err="1">
                <a:latin typeface="thongterm"/>
                <a:ea typeface="thongterm"/>
                <a:cs typeface="thongterm"/>
              </a:rPr>
              <a:t>เว็บไซต์หลัก</a:t>
            </a:r>
            <a:r>
              <a:rPr lang="en-US" sz="1600" b="0" i="0">
                <a:latin typeface="thongterm"/>
                <a:ea typeface="thongterm"/>
                <a:cs typeface="thongterm"/>
              </a:rPr>
              <a:t> </a:t>
            </a:r>
            <a:r>
              <a:rPr lang="en-US" sz="1600" b="0" i="0" u="sng">
                <a:latin typeface="thongterm"/>
                <a:ea typeface="thongterm"/>
                <a:cs typeface="thongterm"/>
                <a:hlinkClick r:id="rId3"/>
              </a:rPr>
              <a:t>https://smart.oic.or.th/policy/</a:t>
            </a:r>
            <a:r>
              <a:rPr lang="en-US" sz="1600" b="0" i="0">
                <a:latin typeface="thongterm"/>
                <a:ea typeface="thongterm"/>
                <a:cs typeface="thongterm"/>
              </a:rPr>
              <a:t> </a:t>
            </a:r>
            <a:endParaRPr lang="en-US" sz="16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42D13-BC58-5C9A-F594-AB5E38A48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279" y="1698851"/>
            <a:ext cx="4802415" cy="44400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FAF050-2B5A-2ADB-E085-F181AA7F6A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659" y="1683657"/>
            <a:ext cx="4499428" cy="444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94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97C5CAFD-9997-3773-D1A9-370CA0FAC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>
            <a:extLst>
              <a:ext uri="{FF2B5EF4-FFF2-40B4-BE49-F238E27FC236}">
                <a16:creationId xmlns:a16="http://schemas.microsoft.com/office/drawing/2014/main" id="{31A9FDAF-DC9C-F7A3-D58A-5EFB3516614E}"/>
              </a:ext>
            </a:extLst>
          </p:cNvPr>
          <p:cNvSpPr txBox="1"/>
          <p:nvPr/>
        </p:nvSpPr>
        <p:spPr>
          <a:xfrm>
            <a:off x="9918500" y="6607627"/>
            <a:ext cx="21936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TH" sz="900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00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314" name="Google Shape;314;p48">
            <a:extLst>
              <a:ext uri="{FF2B5EF4-FFF2-40B4-BE49-F238E27FC236}">
                <a16:creationId xmlns:a16="http://schemas.microsoft.com/office/drawing/2014/main" id="{15C03CC9-503F-9579-B24C-6C9EAC7C9833}"/>
              </a:ext>
            </a:extLst>
          </p:cNvPr>
          <p:cNvSpPr txBox="1"/>
          <p:nvPr/>
        </p:nvSpPr>
        <p:spPr>
          <a:xfrm>
            <a:off x="11570800" y="6508750"/>
            <a:ext cx="62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13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42BF08FC-33F2-5E3D-A66C-B53BA1471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77" y="664029"/>
            <a:ext cx="9359445" cy="5827485"/>
          </a:xfrm>
          <a:prstGeom prst="rect">
            <a:avLst/>
          </a:prstGeom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791BC105-F0C8-0AD7-266F-48F7BE3D447E}"/>
              </a:ext>
            </a:extLst>
          </p:cNvPr>
          <p:cNvSpPr txBox="1"/>
          <p:nvPr/>
        </p:nvSpPr>
        <p:spPr>
          <a:xfrm>
            <a:off x="0" y="-18143"/>
            <a:ext cx="5152572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chemeClr val="bg2"/>
                </a:solidFill>
                <a:latin typeface="Barlow Medium"/>
              </a:rPr>
              <a:t>Business Impact / Business Change </a:t>
            </a:r>
            <a:endParaRPr lang="en-US" b="1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66F8C422-048E-86DE-7C23-87800CCDC631}"/>
              </a:ext>
            </a:extLst>
          </p:cNvPr>
          <p:cNvSpPr txBox="1"/>
          <p:nvPr/>
        </p:nvSpPr>
        <p:spPr>
          <a:xfrm>
            <a:off x="6595792" y="4063201"/>
            <a:ext cx="3105917" cy="3939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h-TH">
                <a:solidFill>
                  <a:srgbClr val="FF0000"/>
                </a:solidFill>
              </a:rPr>
              <a:t>ภาพนี้ เดี๋ยวแก้ใหม่นะ ซันนี่ กำลังทำให้</a:t>
            </a:r>
          </a:p>
        </p:txBody>
      </p:sp>
    </p:spTree>
    <p:extLst>
      <p:ext uri="{BB962C8B-B14F-4D97-AF65-F5344CB8AC3E}">
        <p14:creationId xmlns:p14="http://schemas.microsoft.com/office/powerpoint/2010/main" val="2434466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2AC86F9E-4BBE-A3B1-63C8-A9B3CC4F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5F2506E6-2533-50E3-1537-0107F644D342}"/>
              </a:ext>
            </a:extLst>
          </p:cNvPr>
          <p:cNvSpPr txBox="1"/>
          <p:nvPr/>
        </p:nvSpPr>
        <p:spPr>
          <a:xfrm>
            <a:off x="9918500" y="6607627"/>
            <a:ext cx="2193600" cy="2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lang="th" sz="933" i="0" u="none" strike="noStrike" cap="none"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rPr>
              <a:t>©2023 Thai Life Insurance</a:t>
            </a:r>
            <a:endParaRPr sz="933" i="0" u="none" strike="noStrike" cap="none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2CCA9307-E022-9ADC-816C-252EEF232FEB}"/>
              </a:ext>
            </a:extLst>
          </p:cNvPr>
          <p:cNvSpPr txBox="1"/>
          <p:nvPr/>
        </p:nvSpPr>
        <p:spPr>
          <a:xfrm>
            <a:off x="11570800" y="6508751"/>
            <a:ext cx="621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3EAB1061-E693-8F9B-C8CC-2111CFA917E0}"/>
              </a:ext>
            </a:extLst>
          </p:cNvPr>
          <p:cNvSpPr txBox="1"/>
          <p:nvPr/>
        </p:nvSpPr>
        <p:spPr>
          <a:xfrm>
            <a:off x="145675" y="-19237"/>
            <a:ext cx="11937600" cy="461600"/>
          </a:xfrm>
          <a:prstGeom prst="rect">
            <a:avLst/>
          </a:prstGeom>
          <a:noFill/>
          <a:ln>
            <a:noFill/>
          </a:ln>
          <a:effectLst>
            <a:outerShdw blurRad="57150" dist="38100" dir="3300000" algn="bl" rotWithShape="0">
              <a:srgbClr val="000000">
                <a:alpha val="34000"/>
              </a:srgbClr>
            </a:outerShdw>
          </a:effectLst>
        </p:spPr>
        <p:txBody>
          <a:bodyPr spcFirstLastPara="1" wrap="square" lIns="91433" tIns="45700" rIns="91433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th" sz="2400" b="1">
              <a:solidFill>
                <a:srgbClr val="1E4E7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D915DB-9CED-5900-6947-617DDA7F9486}"/>
              </a:ext>
            </a:extLst>
          </p:cNvPr>
          <p:cNvSpPr txBox="1"/>
          <p:nvPr/>
        </p:nvSpPr>
        <p:spPr>
          <a:xfrm>
            <a:off x="355600" y="446314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chemeClr val="bg2"/>
                </a:solidFill>
                <a:latin typeface="Barlow Medium"/>
              </a:rPr>
              <a:t>Business Impact / Business Change </a:t>
            </a:r>
            <a:endParaRPr lang="en-US" b="1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96FEF-A725-1B05-C7CB-BE27838F1FDC}"/>
              </a:ext>
            </a:extLst>
          </p:cNvPr>
          <p:cNvSpPr/>
          <p:nvPr/>
        </p:nvSpPr>
        <p:spPr>
          <a:xfrm>
            <a:off x="708224" y="1889731"/>
            <a:ext cx="4472489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2"/>
                </a:solidFill>
                <a:cs typeface="Arial"/>
              </a:rPr>
              <a:t>ใบคำขอเอาประกัน</a:t>
            </a:r>
            <a:r>
              <a:rPr lang="en-US" sz="1800">
                <a:solidFill>
                  <a:schemeClr val="bg2"/>
                </a:solidFill>
                <a:cs typeface="Arial"/>
              </a:rPr>
              <a:t>  /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หน้าตาราง</a:t>
            </a:r>
            <a:r>
              <a:rPr lang="en-US" sz="1800">
                <a:solidFill>
                  <a:schemeClr val="bg2"/>
                </a:solidFill>
                <a:cs typeface="Arial"/>
              </a:rPr>
              <a:t> /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แปะข้อความ</a:t>
            </a:r>
            <a:r>
              <a:rPr lang="en-US" sz="1800">
                <a:solidFill>
                  <a:schemeClr val="bg2"/>
                </a:solidFill>
                <a:cs typeface="Arial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FFE8F5-F07C-12FB-52B8-9C9F27A6AE75}"/>
              </a:ext>
            </a:extLst>
          </p:cNvPr>
          <p:cNvSpPr/>
          <p:nvPr/>
        </p:nvSpPr>
        <p:spPr>
          <a:xfrm>
            <a:off x="91365" y="2455787"/>
            <a:ext cx="5938432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2"/>
                </a:solidFill>
                <a:cs typeface="Arial"/>
              </a:rPr>
              <a:t>ลูกค้ายังสามารถขอเป็น</a:t>
            </a:r>
            <a:r>
              <a:rPr lang="en-US" sz="1800">
                <a:solidFill>
                  <a:schemeClr val="bg2"/>
                </a:solidFill>
                <a:cs typeface="Arial"/>
              </a:rPr>
              <a:t> policy paper(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สำเนา</a:t>
            </a:r>
            <a:r>
              <a:rPr lang="en-US" sz="1800">
                <a:solidFill>
                  <a:schemeClr val="bg2"/>
                </a:solidFill>
                <a:cs typeface="Arial"/>
              </a:rPr>
              <a:t>)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ได้</a:t>
            </a:r>
            <a:r>
              <a:rPr lang="en-US" sz="1800">
                <a:solidFill>
                  <a:schemeClr val="bg2"/>
                </a:solidFill>
                <a:cs typeface="Arial"/>
              </a:rPr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F36C97-3F11-377B-AED9-6FB22684DE07}"/>
              </a:ext>
            </a:extLst>
          </p:cNvPr>
          <p:cNvSpPr/>
          <p:nvPr/>
        </p:nvSpPr>
        <p:spPr>
          <a:xfrm>
            <a:off x="156678" y="4284586"/>
            <a:ext cx="5060316" cy="3615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2"/>
                </a:solidFill>
                <a:cs typeface="Arial"/>
              </a:rPr>
              <a:t>วันที่ส่งมอบ</a:t>
            </a:r>
            <a:r>
              <a:rPr lang="en-US" sz="1800">
                <a:solidFill>
                  <a:schemeClr val="bg2"/>
                </a:solidFill>
                <a:cs typeface="Arial"/>
              </a:rPr>
              <a:t> /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รับมอบกรมธรรม์</a:t>
            </a:r>
            <a:r>
              <a:rPr lang="en-US" sz="1800">
                <a:solidFill>
                  <a:schemeClr val="bg2"/>
                </a:solidFill>
                <a:cs typeface="Arial"/>
              </a:rPr>
              <a:t>  ( FLP )   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C30F55-882B-615C-5DF5-6C2FEA64C9C9}"/>
              </a:ext>
            </a:extLst>
          </p:cNvPr>
          <p:cNvSpPr/>
          <p:nvPr/>
        </p:nvSpPr>
        <p:spPr>
          <a:xfrm>
            <a:off x="258278" y="3820129"/>
            <a:ext cx="4472489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bg2"/>
                </a:solidFill>
                <a:cs typeface="Arial"/>
              </a:rPr>
              <a:t>Call Center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จะตอบลูกค้าได้อย่างไร</a:t>
            </a:r>
          </a:p>
          <a:p>
            <a:pPr algn="ctr"/>
            <a:endParaRPr lang="en-US" sz="1800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C1334-BEB6-1203-03C8-6954FBBAE4C6}"/>
              </a:ext>
            </a:extLst>
          </p:cNvPr>
          <p:cNvSpPr/>
          <p:nvPr/>
        </p:nvSpPr>
        <p:spPr>
          <a:xfrm>
            <a:off x="91364" y="3065386"/>
            <a:ext cx="4472489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2"/>
                </a:solidFill>
                <a:cs typeface="Arial"/>
              </a:rPr>
              <a:t>การแสดงข้อมูลหลัก</a:t>
            </a:r>
            <a:r>
              <a:rPr lang="en-US" sz="1800">
                <a:solidFill>
                  <a:schemeClr val="bg2"/>
                </a:solidFill>
                <a:cs typeface="Arial"/>
              </a:rPr>
              <a:t> /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InsureMo</a:t>
            </a:r>
            <a:r>
              <a:rPr lang="en-US" sz="1800">
                <a:solidFill>
                  <a:schemeClr val="bg2"/>
                </a:solidFill>
                <a:cs typeface="Arial"/>
              </a:rPr>
              <a:t> </a:t>
            </a:r>
          </a:p>
        </p:txBody>
      </p:sp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60ABECDA-F803-4FCD-6DB0-0DA849E75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758" y="3431041"/>
            <a:ext cx="4924425" cy="1476375"/>
          </a:xfrm>
          <a:prstGeom prst="rect">
            <a:avLst/>
          </a:prstGeom>
        </p:spPr>
      </p:pic>
      <p:pic>
        <p:nvPicPr>
          <p:cNvPr id="12" name="รูปภาพ 11">
            <a:extLst>
              <a:ext uri="{FF2B5EF4-FFF2-40B4-BE49-F238E27FC236}">
                <a16:creationId xmlns:a16="http://schemas.microsoft.com/office/drawing/2014/main" id="{F19B9EE3-67D7-4564-DB9C-74C8B73B4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2361" y="1569130"/>
            <a:ext cx="6115050" cy="1571625"/>
          </a:xfrm>
          <a:prstGeom prst="rect">
            <a:avLst/>
          </a:prstGeom>
        </p:spPr>
      </p:pic>
      <p:pic>
        <p:nvPicPr>
          <p:cNvPr id="13" name="รูปภาพ 12">
            <a:extLst>
              <a:ext uri="{FF2B5EF4-FFF2-40B4-BE49-F238E27FC236}">
                <a16:creationId xmlns:a16="http://schemas.microsoft.com/office/drawing/2014/main" id="{90FB10F2-12B8-DFCC-D0F8-BED5B30A2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482" y="5069794"/>
            <a:ext cx="4933950" cy="1304925"/>
          </a:xfrm>
          <a:prstGeom prst="rect">
            <a:avLst/>
          </a:prstGeom>
        </p:spPr>
      </p:pic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74E974E3-286A-80AC-A891-EDB8DE73DF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" y="4904468"/>
            <a:ext cx="502920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AAC1E0-C6EA-0E68-DD99-9C9B90418DF2}"/>
              </a:ext>
            </a:extLst>
          </p:cNvPr>
          <p:cNvSpPr txBox="1"/>
          <p:nvPr/>
        </p:nvSpPr>
        <p:spPr>
          <a:xfrm>
            <a:off x="312057" y="61685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chemeClr val="bg2"/>
                </a:solidFill>
                <a:latin typeface="Barlow Medium"/>
              </a:rPr>
              <a:t>Technical </a:t>
            </a:r>
            <a:endParaRPr lang="en-US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EB9E0-B566-D829-796C-B74246E49A70}"/>
              </a:ext>
            </a:extLst>
          </p:cNvPr>
          <p:cNvSpPr/>
          <p:nvPr/>
        </p:nvSpPr>
        <p:spPr>
          <a:xfrm>
            <a:off x="-2977" y="1316417"/>
            <a:ext cx="4472489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bg2"/>
                </a:solidFill>
                <a:cs typeface="Arial"/>
              </a:rPr>
              <a:t>API Implementation / Testing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38E642-8C35-7426-6060-1B9C0974C44B}"/>
              </a:ext>
            </a:extLst>
          </p:cNvPr>
          <p:cNvSpPr/>
          <p:nvPr/>
        </p:nvSpPr>
        <p:spPr>
          <a:xfrm>
            <a:off x="403425" y="2608187"/>
            <a:ext cx="7092317" cy="441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2"/>
                </a:solidFill>
                <a:cs typeface="Arial"/>
              </a:rPr>
              <a:t>ทีม</a:t>
            </a:r>
            <a:r>
              <a:rPr lang="en-US" sz="1800">
                <a:solidFill>
                  <a:schemeClr val="bg2"/>
                </a:solidFill>
                <a:cs typeface="Arial"/>
              </a:rPr>
              <a:t> CORE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ดำเนินการ</a:t>
            </a:r>
            <a:r>
              <a:rPr lang="en-US" sz="1800">
                <a:solidFill>
                  <a:schemeClr val="bg2"/>
                </a:solidFill>
                <a:cs typeface="Arial"/>
              </a:rPr>
              <a:t> build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Epolicy</a:t>
            </a:r>
            <a:r>
              <a:rPr lang="en-US" sz="1800">
                <a:solidFill>
                  <a:schemeClr val="bg2"/>
                </a:solidFill>
                <a:cs typeface="Arial"/>
              </a:rPr>
              <a:t>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ตามกลุ่มแบบประกันในปี</a:t>
            </a:r>
            <a:r>
              <a:rPr lang="en-US" sz="1800">
                <a:solidFill>
                  <a:schemeClr val="bg2"/>
                </a:solidFill>
                <a:cs typeface="Arial"/>
              </a:rPr>
              <a:t> 2027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79BB97-1728-E924-44E1-C4A583BCCAED}"/>
              </a:ext>
            </a:extLst>
          </p:cNvPr>
          <p:cNvSpPr/>
          <p:nvPr/>
        </p:nvSpPr>
        <p:spPr>
          <a:xfrm>
            <a:off x="5795481" y="1962303"/>
            <a:ext cx="4472489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>
                <a:solidFill>
                  <a:schemeClr val="bg2"/>
                </a:solidFill>
                <a:cs typeface="Arial"/>
              </a:rPr>
              <a:t>File Limitation :  20M  , 15M, 10M , 5M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36BE9B-D0E9-5C35-3600-1A9E312DB759}"/>
              </a:ext>
            </a:extLst>
          </p:cNvPr>
          <p:cNvSpPr/>
          <p:nvPr/>
        </p:nvSpPr>
        <p:spPr>
          <a:xfrm>
            <a:off x="5526965" y="1316417"/>
            <a:ext cx="3405689" cy="463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err="1">
                <a:solidFill>
                  <a:schemeClr val="bg2"/>
                </a:solidFill>
                <a:cs typeface="Arial"/>
              </a:rPr>
              <a:t>การจัดเตรียม</a:t>
            </a:r>
            <a:r>
              <a:rPr lang="en-US" sz="1800">
                <a:solidFill>
                  <a:schemeClr val="bg2"/>
                </a:solidFill>
                <a:cs typeface="Arial"/>
              </a:rPr>
              <a:t> Storage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A7CAB2-3A58-1DBD-A1C7-AD970CAEEED1}"/>
              </a:ext>
            </a:extLst>
          </p:cNvPr>
          <p:cNvSpPr/>
          <p:nvPr/>
        </p:nvSpPr>
        <p:spPr>
          <a:xfrm>
            <a:off x="127652" y="1715558"/>
            <a:ext cx="5285289" cy="7099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800">
              <a:solidFill>
                <a:schemeClr val="bg2"/>
              </a:solidFill>
              <a:cs typeface="Arial"/>
            </a:endParaRPr>
          </a:p>
          <a:p>
            <a:pPr algn="ctr"/>
            <a:r>
              <a:rPr lang="en-US" sz="1800">
                <a:solidFill>
                  <a:schemeClr val="bg2"/>
                </a:solidFill>
                <a:cs typeface="Arial"/>
              </a:rPr>
              <a:t>POS/ CLAIM   which issue endorsement </a:t>
            </a:r>
            <a:endParaRPr lang="en-US">
              <a:solidFill>
                <a:schemeClr val="bg2"/>
              </a:solidFill>
              <a:cs typeface="Arial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3749D66-AEA5-6C9D-5EAC-8CB7EB318FC8}"/>
              </a:ext>
            </a:extLst>
          </p:cNvPr>
          <p:cNvSpPr/>
          <p:nvPr/>
        </p:nvSpPr>
        <p:spPr>
          <a:xfrm>
            <a:off x="650163" y="3254072"/>
            <a:ext cx="11199860" cy="9493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800">
                <a:solidFill>
                  <a:schemeClr val="bg2"/>
                </a:solidFill>
                <a:cs typeface="Arial"/>
              </a:rPr>
              <a:t>Outsource Printing  (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แบบ</a:t>
            </a:r>
            <a:r>
              <a:rPr lang="en-US" sz="1800">
                <a:solidFill>
                  <a:schemeClr val="bg2"/>
                </a:solidFill>
                <a:cs typeface="Arial"/>
              </a:rPr>
              <a:t> OL ) 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อาจต้องขอ</a:t>
            </a:r>
            <a:r>
              <a:rPr lang="en-US" sz="1800">
                <a:solidFill>
                  <a:schemeClr val="bg2"/>
                </a:solidFill>
                <a:cs typeface="Arial"/>
              </a:rPr>
              <a:t> File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จาก</a:t>
            </a:r>
            <a:r>
              <a:rPr lang="en-US" sz="1800">
                <a:solidFill>
                  <a:schemeClr val="bg2"/>
                </a:solidFill>
                <a:cs typeface="Arial"/>
              </a:rPr>
              <a:t> Vendor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มาส่ง</a:t>
            </a:r>
            <a:r>
              <a:rPr lang="en-US" sz="1800">
                <a:solidFill>
                  <a:schemeClr val="bg2"/>
                </a:solidFill>
                <a:cs typeface="Arial"/>
              </a:rPr>
              <a:t> Custodian </a:t>
            </a:r>
            <a:endParaRPr lang="th-TH">
              <a:solidFill>
                <a:schemeClr val="bg2"/>
              </a:solidFill>
            </a:endParaRPr>
          </a:p>
          <a:p>
            <a:r>
              <a:rPr lang="en-US" sz="1800">
                <a:solidFill>
                  <a:schemeClr val="bg2"/>
                </a:solidFill>
                <a:cs typeface="Arial"/>
              </a:rPr>
              <a:t>( </a:t>
            </a:r>
            <a:r>
              <a:rPr lang="en-US" sz="1800" err="1">
                <a:solidFill>
                  <a:schemeClr val="bg2"/>
                </a:solidFill>
                <a:cs typeface="Arial"/>
              </a:rPr>
              <a:t>ยกเลิกทุก</a:t>
            </a:r>
            <a:r>
              <a:rPr lang="en-US" sz="1800">
                <a:solidFill>
                  <a:schemeClr val="bg2"/>
                </a:solidFill>
                <a:cs typeface="Arial"/>
              </a:rPr>
              <a:t> Vendor )</a:t>
            </a:r>
            <a:endParaRPr lang="en-US">
              <a:solidFill>
                <a:schemeClr val="bg2"/>
              </a:solidFill>
            </a:endParaRPr>
          </a:p>
          <a:p>
            <a:endParaRPr lang="en-US" sz="1800">
              <a:solidFill>
                <a:schemeClr val="bg2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194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A96CB-4E68-9606-75CA-DFB16A89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ี่เหลี่ยมผืนผ้า: มุมมน 3">
            <a:extLst>
              <a:ext uri="{FF2B5EF4-FFF2-40B4-BE49-F238E27FC236}">
                <a16:creationId xmlns:a16="http://schemas.microsoft.com/office/drawing/2014/main" id="{E14DE280-7366-971A-0F67-5155A09291AD}"/>
              </a:ext>
            </a:extLst>
          </p:cNvPr>
          <p:cNvSpPr/>
          <p:nvPr/>
        </p:nvSpPr>
        <p:spPr>
          <a:xfrm>
            <a:off x="1367417" y="1577443"/>
            <a:ext cx="9463652" cy="30722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th-TH" sz="4000">
                <a:cs typeface="Cordia New"/>
              </a:rPr>
              <a:t>DEMO :  CUSTODIAN SYSTEM ( OIC )</a:t>
            </a:r>
            <a:endParaRPr lang="en-US"/>
          </a:p>
          <a:p>
            <a:pPr algn="ctr"/>
            <a:endParaRPr lang="th-TH"/>
          </a:p>
          <a:p>
            <a:pPr algn="ctr"/>
            <a:r>
              <a:rPr lang="th-TH" sz="3200">
                <a:solidFill>
                  <a:schemeClr val="bg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https://smart.oic.or.th/policy/Login</a:t>
            </a:r>
            <a:endParaRPr lang="th-TH">
              <a:solidFill>
                <a:schemeClr val="bg1"/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th-TH" sz="3200">
                <a:solidFill>
                  <a:schemeClr val="bg1"/>
                </a:solidFill>
                <a:ea typeface="+mn-lt"/>
                <a:cs typeface="+mn-lt"/>
              </a:rPr>
              <a:t>1 มกราคม 2570</a:t>
            </a:r>
            <a:endParaRPr lang="th-TH">
              <a:solidFill>
                <a:schemeClr val="bg1"/>
              </a:solidFill>
              <a:cs typeface="Cordia New"/>
            </a:endParaRPr>
          </a:p>
        </p:txBody>
      </p:sp>
      <p:sp>
        <p:nvSpPr>
          <p:cNvPr id="8" name="TextBox 1">
            <a:extLst>
              <a:ext uri="{FF2B5EF4-FFF2-40B4-BE49-F238E27FC236}">
                <a16:creationId xmlns:a16="http://schemas.microsoft.com/office/drawing/2014/main" id="{21053ACF-C792-07E7-3F67-338D2730918D}"/>
              </a:ext>
            </a:extLst>
          </p:cNvPr>
          <p:cNvSpPr txBox="1"/>
          <p:nvPr/>
        </p:nvSpPr>
        <p:spPr>
          <a:xfrm>
            <a:off x="312057" y="61685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chemeClr val="bg2"/>
                </a:solidFill>
                <a:latin typeface="Barlow Medium"/>
              </a:rPr>
              <a:t>Custodian Demo </a:t>
            </a:r>
            <a:endParaRPr lang="en-US">
              <a:solidFill>
                <a:schemeClr val="bg2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12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CBC222AD9155438DD635D7CAA6B9A9" ma:contentTypeVersion="7" ma:contentTypeDescription="Create a new document." ma:contentTypeScope="" ma:versionID="f152f42fdf9f840d6a4eda44fd134579">
  <xsd:schema xmlns:xsd="http://www.w3.org/2001/XMLSchema" xmlns:xs="http://www.w3.org/2001/XMLSchema" xmlns:p="http://schemas.microsoft.com/office/2006/metadata/properties" xmlns:ns2="e0f3fcd2-5f6a-4497-887f-ec20d41e9564" targetNamespace="http://schemas.microsoft.com/office/2006/metadata/properties" ma:root="true" ma:fieldsID="f790ee3e1c6f776bd185d1a8f656ee2e" ns2:_="">
    <xsd:import namespace="e0f3fcd2-5f6a-4497-887f-ec20d41e95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f3fcd2-5f6a-4497-887f-ec20d41e95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971D4C-52B3-47B3-A93B-57174B18DCBA}">
  <ds:schemaRefs>
    <ds:schemaRef ds:uri="e0f3fcd2-5f6a-4497-887f-ec20d41e956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F816DE2-8E54-4B50-9059-994A1815E037}">
  <ds:schemaRefs>
    <ds:schemaRef ds:uri="http://www.w3.org/XML/1998/namespace"/>
    <ds:schemaRef ds:uri="http://purl.org/dc/terms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e0f3fcd2-5f6a-4497-887f-ec20d41e9564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7CB23AE-D1E3-47C0-AC0D-5C34B46BE1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595</Words>
  <Application>Microsoft Office PowerPoint</Application>
  <PresentationFormat>Widescreen</PresentationFormat>
  <Paragraphs>92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Nunito</vt:lpstr>
      <vt:lpstr>Barlow</vt:lpstr>
      <vt:lpstr>Arial</vt:lpstr>
      <vt:lpstr>Roboto Condensed</vt:lpstr>
      <vt:lpstr>Barlow Medium</vt:lpstr>
      <vt:lpstr>Cordia New</vt:lpstr>
      <vt:lpstr>Aptos</vt:lpstr>
      <vt:lpstr>Aptos Display</vt:lpstr>
      <vt:lpstr>thongterm</vt:lpstr>
      <vt:lpstr>Calibri</vt:lpstr>
      <vt:lpstr>Courier New</vt:lpstr>
      <vt:lpstr>Wingdings</vt:lpstr>
      <vt:lpstr>Roboto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Supachai Homphun</cp:lastModifiedBy>
  <cp:revision>2</cp:revision>
  <dcterms:modified xsi:type="dcterms:W3CDTF">2026-07-21T06:36:37Z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0x010100B8CBC222AD9155438DD635D7CAA6B9A9</vt:lpwstr>
  </property>
</Properties>
</file>